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3" r:id="rId3"/>
    <p:sldId id="266" r:id="rId4"/>
    <p:sldId id="270" r:id="rId5"/>
    <p:sldId id="269" r:id="rId6"/>
    <p:sldId id="272" r:id="rId7"/>
    <p:sldId id="268" r:id="rId8"/>
    <p:sldId id="271"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02-08-2026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pic>
        <p:nvPicPr>
          <p:cNvPr id="8" name="Picture 7">
            <a:extLst>
              <a:ext uri="{FF2B5EF4-FFF2-40B4-BE49-F238E27FC236}">
                <a16:creationId xmlns:a16="http://schemas.microsoft.com/office/drawing/2014/main" id="{25A5E781-C40A-306A-3D89-4E94A1ADFFF1}"/>
              </a:ext>
            </a:extLst>
          </p:cNvPr>
          <p:cNvPicPr>
            <a:picLocks noChangeAspect="1"/>
          </p:cNvPicPr>
          <p:nvPr userDrawn="1"/>
        </p:nvPicPr>
        <p:blipFill>
          <a:blip r:embed="rId13">
            <a:extLst>
              <a:ext uri="{BEBA8EAE-BF5A-486C-A8C5-ECC9F3942E4B}">
                <a14:imgProps xmlns:a14="http://schemas.microsoft.com/office/drawing/2010/main">
                  <a14:imgLayer r:embed="rId14">
                    <a14:imgEffect>
                      <a14:sharpenSoften amount="25000"/>
                    </a14:imgEffect>
                    <a14:imgEffect>
                      <a14:saturation sat="400000"/>
                    </a14:imgEffect>
                    <a14:imgEffect>
                      <a14:brightnessContrast contrast="-40000"/>
                    </a14:imgEffect>
                  </a14:imgLayer>
                </a14:imgProps>
              </a:ext>
            </a:extLst>
          </a:blip>
          <a:stretch>
            <a:fillRect/>
          </a:stretch>
        </p:blipFill>
        <p:spPr>
          <a:xfrm>
            <a:off x="267970" y="223568"/>
            <a:ext cx="11656060" cy="1013460"/>
          </a:xfrm>
          <a:prstGeom prst="rect">
            <a:avLst/>
          </a:prstGeom>
        </p:spPr>
      </p:pic>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898A4E7-D69E-C448-1FC2-8DE2EBECF36A}"/>
              </a:ext>
            </a:extLst>
          </p:cNvPr>
          <p:cNvSpPr txBox="1"/>
          <p:nvPr/>
        </p:nvSpPr>
        <p:spPr>
          <a:xfrm>
            <a:off x="7237141" y="4919008"/>
            <a:ext cx="4437443" cy="1554272"/>
          </a:xfrm>
          <a:prstGeom prst="rect">
            <a:avLst/>
          </a:prstGeom>
          <a:noFill/>
        </p:spPr>
        <p:txBody>
          <a:bodyPr wrap="square">
            <a:spAutoFit/>
          </a:bodyPr>
          <a:lstStyle/>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192425312	CHEERALA JYOTHI</a:t>
            </a:r>
          </a:p>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192425132	G AKSHYA</a:t>
            </a:r>
          </a:p>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192472320	PARLA AKHILA</a:t>
            </a:r>
          </a:p>
          <a:p>
            <a:pPr lvl="1" indent="0" eaLnBrk="1" hangingPunct="1">
              <a:spcBef>
                <a:spcPts val="550"/>
              </a:spcBef>
              <a:buClr>
                <a:srgbClr val="4F81BD"/>
              </a:buClr>
              <a:buSzPct val="70000"/>
            </a:pPr>
            <a:r>
              <a:rPr lang="en-US" sz="2000" i="1" dirty="0">
                <a:solidFill>
                  <a:schemeClr val="accent1">
                    <a:lumMod val="50000"/>
                  </a:schemeClr>
                </a:solidFill>
                <a:latin typeface="Cambria" panose="02040503050406030204" pitchFamily="18" charset="0"/>
                <a:ea typeface="Cambria" panose="02040503050406030204" pitchFamily="18" charset="0"/>
                <a:cs typeface="Times New Roman" pitchFamily="18" charset="0"/>
              </a:rPr>
              <a:t>192472291	P DIVYASHREE</a:t>
            </a:r>
            <a:endParaRPr lang="en-IN" sz="2000" dirty="0">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56478" y="1215483"/>
            <a:ext cx="11717808" cy="1586941"/>
          </a:xfrm>
          <a:prstGeom prst="rect">
            <a:avLst/>
          </a:prstGeom>
          <a:noFill/>
        </p:spPr>
        <p:txBody>
          <a:bodyPr wrap="square">
            <a:spAutoFit/>
          </a:bodyPr>
          <a:lstStyle/>
          <a:p>
            <a:pPr marL="36195" marR="0" algn="ctr">
              <a:spcAft>
                <a:spcPts val="600"/>
              </a:spcAft>
              <a:buNone/>
            </a:pPr>
            <a:r>
              <a:rPr lang="en-US" sz="3200" dirty="0">
                <a:solidFill>
                  <a:schemeClr val="accent6">
                    <a:lumMod val="50000"/>
                  </a:schemeClr>
                </a:solidFill>
                <a:effectLst/>
                <a:latin typeface="Cambria" panose="02040503050406030204" pitchFamily="18" charset="0"/>
                <a:ea typeface="Cambria" panose="02040503050406030204" pitchFamily="18" charset="0"/>
              </a:rPr>
              <a:t>Project Olympus: Adaptive Urban Traffic Intelligence using Reinforcement Learning and Digital Twin-Based Discrete Event Simulation</a:t>
            </a:r>
          </a:p>
        </p:txBody>
      </p:sp>
      <p:sp>
        <p:nvSpPr>
          <p:cNvPr id="3" name="TextBox 2">
            <a:extLst>
              <a:ext uri="{FF2B5EF4-FFF2-40B4-BE49-F238E27FC236}">
                <a16:creationId xmlns:a16="http://schemas.microsoft.com/office/drawing/2014/main" id="{14A7604F-5AF1-3907-AA38-EB1F8C305E9F}"/>
              </a:ext>
            </a:extLst>
          </p:cNvPr>
          <p:cNvSpPr txBox="1"/>
          <p:nvPr/>
        </p:nvSpPr>
        <p:spPr>
          <a:xfrm>
            <a:off x="81280" y="4695440"/>
            <a:ext cx="6410960" cy="1938992"/>
          </a:xfrm>
          <a:prstGeom prst="rect">
            <a:avLst/>
          </a:prstGeom>
          <a:noFill/>
        </p:spPr>
        <p:txBody>
          <a:bodyPr wrap="square">
            <a:spAutoFit/>
          </a:bodyPr>
          <a:lstStyle/>
          <a:p>
            <a:pPr lvl="1" indent="0" eaLnBrk="1" hangingPunct="1">
              <a:spcBef>
                <a:spcPts val="550"/>
              </a:spcBef>
              <a:buClr>
                <a:srgbClr val="4F81BD"/>
              </a:buClr>
              <a:buSzPct val="70000"/>
            </a:pPr>
            <a:r>
              <a:rPr lang="en-US" sz="2000" b="1" dirty="0">
                <a:solidFill>
                  <a:schemeClr val="accent2">
                    <a:lumMod val="50000"/>
                  </a:schemeClr>
                </a:solidFill>
                <a:latin typeface="Cambria" panose="02040503050406030204" pitchFamily="18" charset="0"/>
                <a:ea typeface="Cambria" panose="02040503050406030204" pitchFamily="18" charset="0"/>
                <a:cs typeface="Times New Roman" pitchFamily="18" charset="0"/>
              </a:rPr>
              <a:t>Guided by,</a:t>
            </a:r>
          </a:p>
          <a:p>
            <a:pPr lvl="1" indent="0" eaLnBrk="1" hangingPunct="1">
              <a:spcBef>
                <a:spcPts val="550"/>
              </a:spcBef>
              <a:buClr>
                <a:srgbClr val="4F81BD"/>
              </a:buClr>
              <a:buSzPct val="70000"/>
            </a:pPr>
            <a:r>
              <a:rPr lang="en-US" sz="2000" b="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Dr. T. Vincent Gnanaraj</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Associate Professor</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Department of Quantum Intelligence</a:t>
            </a:r>
          </a:p>
          <a:p>
            <a:pPr lvl="1" indent="0" eaLnBrk="1" hangingPunct="1">
              <a:spcBef>
                <a:spcPts val="550"/>
              </a:spcBef>
              <a:buClr>
                <a:srgbClr val="4F81BD"/>
              </a:buClr>
              <a:buSzPct val="70000"/>
            </a:pPr>
            <a:r>
              <a:rPr lang="en-US" sz="2000" b="1"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SIMATS Engineering</a:t>
            </a:r>
          </a:p>
        </p:txBody>
      </p:sp>
      <p:pic>
        <p:nvPicPr>
          <p:cNvPr id="4" name="Picture 3">
            <a:extLst>
              <a:ext uri="{FF2B5EF4-FFF2-40B4-BE49-F238E27FC236}">
                <a16:creationId xmlns:a16="http://schemas.microsoft.com/office/drawing/2014/main" id="{17A22A1A-F1EE-43E6-BAAB-EB94B5F4D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80120"/>
            <a:ext cx="12192000" cy="1938991"/>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F3BC88-8D23-52E9-2B50-B62189EC34C8}"/>
              </a:ext>
            </a:extLst>
          </p:cNvPr>
          <p:cNvSpPr txBox="1"/>
          <p:nvPr/>
        </p:nvSpPr>
        <p:spPr>
          <a:xfrm>
            <a:off x="758283" y="2147545"/>
            <a:ext cx="10671717" cy="3693319"/>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This study presents a novel approach for intelligent urban traffic management using Reinforcement Learning (RL), Digital Twin technology, and Discrete Event Simulation (DES). A synthetic traffic dataset was generated to represent realistic urban traffic conditions and support simulation-based experimentation. The proposed framework was designed, implemented, and evaluated under multiple traffic scenarios to optimize adaptive traffic signal control. Statistical analyses were performed to compare the performance of the proposed model with conventional fixed-time traffic signal systems using metrics such as waiting time queue length travel time and vehicle throughput. The experimental results demonstrated improved traffic flow reduced congestion and enhanced operational efficiency over existing approaches. Visualization techniques were employed to analyze simulation outcomes and illustrate performance improvements across different traffic conditions. The proposed methodology provides a scalable and flexible solution for smart city traffic management and intelligent transportation systems. The study contributes an effective simulation-based framework that can be extended using real-time IoT data and advanced multi-agent reinforcement learning techniques for future urban mobility applications.</a:t>
            </a:r>
          </a:p>
        </p:txBody>
      </p:sp>
      <p:sp>
        <p:nvSpPr>
          <p:cNvPr id="4" name="TextBox 3">
            <a:extLst>
              <a:ext uri="{FF2B5EF4-FFF2-40B4-BE49-F238E27FC236}">
                <a16:creationId xmlns:a16="http://schemas.microsoft.com/office/drawing/2014/main" id="{1F7879BF-2D2D-42DB-B24A-6D8B456D9E77}"/>
              </a:ext>
            </a:extLst>
          </p:cNvPr>
          <p:cNvSpPr txBox="1"/>
          <p:nvPr/>
        </p:nvSpPr>
        <p:spPr>
          <a:xfrm>
            <a:off x="4226312" y="1393903"/>
            <a:ext cx="3234120"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Abstract</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1075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F3BC88-8D23-52E9-2B50-B62189EC34C8}"/>
              </a:ext>
            </a:extLst>
          </p:cNvPr>
          <p:cNvSpPr txBox="1"/>
          <p:nvPr/>
        </p:nvSpPr>
        <p:spPr>
          <a:xfrm>
            <a:off x="758283" y="2147545"/>
            <a:ext cx="10671717" cy="3970318"/>
          </a:xfrm>
          <a:prstGeom prst="rect">
            <a:avLst/>
          </a:prstGeom>
          <a:noFill/>
        </p:spPr>
        <p:txBody>
          <a:bodyPr wrap="square">
            <a:spAutoFit/>
          </a:bodyPr>
          <a:lstStyle/>
          <a:p>
            <a:pPr marL="285750" indent="-285750" algn="just">
              <a:buFont typeface="Arial" panose="020B0604020202020204" pitchFamily="34" charset="0"/>
              <a:buChar char="•"/>
            </a:pPr>
            <a:r>
              <a:rPr lang="en-US" dirty="0">
                <a:solidFill>
                  <a:schemeClr val="tx1">
                    <a:lumMod val="85000"/>
                    <a:lumOff val="15000"/>
                  </a:schemeClr>
                </a:solidFill>
                <a:latin typeface="Cambria" panose="02040503050406030204" pitchFamily="18" charset="0"/>
                <a:ea typeface="Cambria" panose="02040503050406030204" pitchFamily="18" charset="0"/>
              </a:rPr>
              <a:t>Project Olympus is a smart traffic management system that improves urban traffic flow using Artificial Intelligence and simulation.</a:t>
            </a:r>
          </a:p>
          <a:p>
            <a:pPr algn="just"/>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mbria" panose="02040503050406030204" pitchFamily="18" charset="0"/>
                <a:ea typeface="Cambria" panose="02040503050406030204" pitchFamily="18" charset="0"/>
              </a:rPr>
              <a:t>Adaptive Traffic Intelligence: A system that monitors traffic conditions and automatically optimizes traffic signal operations.</a:t>
            </a:r>
          </a:p>
          <a:p>
            <a:pPr algn="just"/>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mbria" panose="02040503050406030204" pitchFamily="18" charset="0"/>
                <a:ea typeface="Cambria" panose="02040503050406030204" pitchFamily="18" charset="0"/>
              </a:rPr>
              <a:t>Reinforcement Learning (RL): An AI technique that learns the best traffic control decisions through continuous interaction with traffic scenarios.</a:t>
            </a:r>
          </a:p>
          <a:p>
            <a:pPr algn="just"/>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mbria" panose="02040503050406030204" pitchFamily="18" charset="0"/>
                <a:ea typeface="Cambria" panose="02040503050406030204" pitchFamily="18" charset="0"/>
              </a:rPr>
              <a:t>Digital Twin &amp; Discrete Event Simulation: A virtual model of the traffic network used to simulate vehicle movement and test traffic management strategies safely and efficiently.</a:t>
            </a:r>
          </a:p>
          <a:p>
            <a:pPr algn="just"/>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dirty="0">
                <a:solidFill>
                  <a:schemeClr val="tx1">
                    <a:lumMod val="85000"/>
                    <a:lumOff val="15000"/>
                  </a:schemeClr>
                </a:solidFill>
                <a:latin typeface="Cambria" panose="02040503050406030204" pitchFamily="18" charset="0"/>
                <a:ea typeface="Cambria" panose="02040503050406030204" pitchFamily="18" charset="0"/>
              </a:rPr>
              <a:t>Need for the Project: Rapid urbanization and increasing vehicle density have made efficient traffic management essential for reducing congestion and improving road safety.</a:t>
            </a:r>
          </a:p>
        </p:txBody>
      </p:sp>
      <p:sp>
        <p:nvSpPr>
          <p:cNvPr id="4" name="TextBox 3">
            <a:extLst>
              <a:ext uri="{FF2B5EF4-FFF2-40B4-BE49-F238E27FC236}">
                <a16:creationId xmlns:a16="http://schemas.microsoft.com/office/drawing/2014/main" id="{462CE1E1-2FA8-401A-9D7B-4C0CAAA857C6}"/>
              </a:ext>
            </a:extLst>
          </p:cNvPr>
          <p:cNvSpPr txBox="1"/>
          <p:nvPr/>
        </p:nvSpPr>
        <p:spPr>
          <a:xfrm>
            <a:off x="4226312" y="1393903"/>
            <a:ext cx="3234120"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Introduction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8410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E24BA-5A33-F379-3CAB-E3EE52BA5933}"/>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D8FBA8DF-0189-C920-2F0A-91393A5877CD}"/>
              </a:ext>
            </a:extLst>
          </p:cNvPr>
          <p:cNvGraphicFramePr>
            <a:graphicFrameLocks noGrp="1"/>
          </p:cNvGraphicFramePr>
          <p:nvPr>
            <p:extLst>
              <p:ext uri="{D42A27DB-BD31-4B8C-83A1-F6EECF244321}">
                <p14:modId xmlns:p14="http://schemas.microsoft.com/office/powerpoint/2010/main" val="2649602"/>
              </p:ext>
            </p:extLst>
          </p:nvPr>
        </p:nvGraphicFramePr>
        <p:xfrm>
          <a:off x="344129" y="1728733"/>
          <a:ext cx="11847871" cy="4964548"/>
        </p:xfrm>
        <a:graphic>
          <a:graphicData uri="http://schemas.openxmlformats.org/drawingml/2006/table">
            <a:tbl>
              <a:tblPr/>
              <a:tblGrid>
                <a:gridCol w="3811895">
                  <a:extLst>
                    <a:ext uri="{9D8B030D-6E8A-4147-A177-3AD203B41FA5}">
                      <a16:colId xmlns:a16="http://schemas.microsoft.com/office/drawing/2014/main" val="3379567841"/>
                    </a:ext>
                  </a:extLst>
                </a:gridCol>
                <a:gridCol w="3765106">
                  <a:extLst>
                    <a:ext uri="{9D8B030D-6E8A-4147-A177-3AD203B41FA5}">
                      <a16:colId xmlns:a16="http://schemas.microsoft.com/office/drawing/2014/main" val="1990139872"/>
                    </a:ext>
                  </a:extLst>
                </a:gridCol>
                <a:gridCol w="4270870">
                  <a:extLst>
                    <a:ext uri="{9D8B030D-6E8A-4147-A177-3AD203B41FA5}">
                      <a16:colId xmlns:a16="http://schemas.microsoft.com/office/drawing/2014/main" val="189062214"/>
                    </a:ext>
                  </a:extLst>
                </a:gridCol>
              </a:tblGrid>
              <a:tr h="265111">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1306759">
                <a:tc>
                  <a:txBody>
                    <a:bodyPr/>
                    <a:lstStyle/>
                    <a:p>
                      <a:pPr marL="0" algn="l" rtl="0" eaLnBrk="1" fontAlgn="ctr" latinLnBrk="0" hangingPunct="1">
                        <a:spcBef>
                          <a:spcPts val="0"/>
                        </a:spcBef>
                        <a:spcAft>
                          <a:spcPts val="0"/>
                        </a:spcAft>
                      </a:pPr>
                      <a:r>
                        <a:rPr lang="en-US" sz="1600" b="0" i="0" u="none" strike="noStrike" kern="1200" dirty="0">
                          <a:solidFill>
                            <a:srgbClr val="262626"/>
                          </a:solidFill>
                          <a:effectLst/>
                          <a:latin typeface="Cambria" panose="02040503050406030204" pitchFamily="18" charset="0"/>
                          <a:ea typeface="Cambria" panose="02040503050406030204" pitchFamily="18" charset="0"/>
                        </a:rPr>
                        <a:t>Baohong Wu, 2024, IEEE 4th International Conference on Power, Electronics and Computer Applications (ICPECA 2024)</a:t>
                      </a:r>
                      <a:endParaRPr lang="en-US" sz="1600" b="0" i="0" u="none" strike="noStrike" dirty="0">
                        <a:effectLst/>
                        <a:latin typeface="Arial" panose="020B0604020202020204" pitchFamily="34"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rtl="0" eaLnBrk="1" fontAlgn="ctr" latinLnBrk="0" hangingPunct="1">
                        <a:spcBef>
                          <a:spcPts val="0"/>
                        </a:spcBef>
                        <a:spcAft>
                          <a:spcPts val="0"/>
                        </a:spcAft>
                      </a:pPr>
                      <a:r>
                        <a:rPr lang="en-US" sz="1600" b="0" i="0" u="none" strike="noStrike" kern="1200" dirty="0">
                          <a:solidFill>
                            <a:srgbClr val="262626"/>
                          </a:solidFill>
                          <a:effectLst/>
                          <a:latin typeface="Cambria" panose="02040503050406030204" pitchFamily="18" charset="0"/>
                          <a:ea typeface="Cambria" panose="02040503050406030204" pitchFamily="18" charset="0"/>
                        </a:rPr>
                        <a:t>Research on a Traffic Signal Control Method Based on Deep Reinforcement Learning</a:t>
                      </a:r>
                      <a:endParaRPr lang="en-US" sz="1600" b="0" i="0" u="none" strike="noStrike" dirty="0">
                        <a:effectLst/>
                        <a:latin typeface="Arial" panose="020B0604020202020204" pitchFamily="34"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l" rtl="0" eaLnBrk="1" fontAlgn="ctr" latinLnBrk="0" hangingPunct="1">
                        <a:spcBef>
                          <a:spcPts val="0"/>
                        </a:spcBef>
                        <a:spcAft>
                          <a:spcPts val="0"/>
                        </a:spcAft>
                      </a:pPr>
                      <a:r>
                        <a:rPr lang="en-US" sz="1600" b="0" i="0" u="none" strike="noStrike" kern="1200" dirty="0">
                          <a:solidFill>
                            <a:srgbClr val="262626"/>
                          </a:solidFill>
                          <a:effectLst/>
                          <a:latin typeface="Cambria" panose="02040503050406030204" pitchFamily="18" charset="0"/>
                          <a:ea typeface="Cambria" panose="02040503050406030204" pitchFamily="18" charset="0"/>
                        </a:rPr>
                        <a:t>The paper proposes a traffic signal control method using Deep Reinforcement Learning (DRL) to improve traffic management efficiency. The approach allows an intelligent agent to learn optimal signal control decisions by interacting with the traffic environment. </a:t>
                      </a:r>
                      <a:endParaRPr lang="en-US" sz="1600" b="0" i="0" u="none" strike="noStrike" dirty="0">
                        <a:effectLst/>
                        <a:latin typeface="Arial" panose="020B0604020202020204" pitchFamily="34"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1139303">
                <a:tc>
                  <a:txBody>
                    <a:bodyPr/>
                    <a:lstStyle/>
                    <a:p>
                      <a:pPr algn="l" fontAlgn="ctr">
                        <a:buNone/>
                      </a:pPr>
                      <a:r>
                        <a:rPr lang="en-IN" sz="1600" dirty="0">
                          <a:latin typeface="Cambria" panose="02040503050406030204" pitchFamily="18" charset="0"/>
                          <a:ea typeface="Cambria" panose="02040503050406030204" pitchFamily="18" charset="0"/>
                        </a:rPr>
                        <a:t>Hongyang Jiang, Zhe Li, Zhenyu Li, Lei Bai, Hongyang Mao, Wolfgang Ketter, Rui Zhao, 2024, IEEE Transactions on Intelligent Transportation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General Scenario-Agnostic Reinforcement Learning for Traffic Signal Control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Developed an RL framework that generalizes across different traffic scenarios, improving adaptability without retraining for every intersection.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1046347">
                <a:tc>
                  <a:txBody>
                    <a:bodyPr/>
                    <a:lstStyle/>
                    <a:p>
                      <a:pPr algn="l" fontAlgn="ctr">
                        <a:buNone/>
                      </a:pPr>
                      <a:r>
                        <a:rPr lang="en-IN" sz="1600">
                          <a:latin typeface="Cambria" panose="02040503050406030204" pitchFamily="18" charset="0"/>
                          <a:ea typeface="Cambria" panose="02040503050406030204" pitchFamily="18" charset="0"/>
                        </a:rPr>
                        <a:t>Ta-Yin Hu, Zhuo-Yu Li, 2024, IET Intelligent Transport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a:latin typeface="Cambria" panose="02040503050406030204" pitchFamily="18" charset="0"/>
                          <a:ea typeface="Cambria" panose="02040503050406030204" pitchFamily="18" charset="0"/>
                        </a:rPr>
                        <a:t>A Multi-Agent Deep Reinforcement Learning Approach for Traffic Signal Coordination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a:latin typeface="Cambria" panose="02040503050406030204" pitchFamily="18" charset="0"/>
                          <a:ea typeface="Cambria" panose="02040503050406030204" pitchFamily="18" charset="0"/>
                        </a:rPr>
                        <a:t>Introduced a Double DQN-based multi-agent traffic signal controller that significantly reduced vehicle waiting time and queue length compared with conventional methods. </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1046347">
                <a:tc>
                  <a:txBody>
                    <a:bodyPr/>
                    <a:lstStyle/>
                    <a:p>
                      <a:pPr algn="l" fontAlgn="ctr">
                        <a:buNone/>
                      </a:pPr>
                      <a:r>
                        <a:rPr lang="en-IN" sz="1600">
                          <a:latin typeface="Cambria" panose="02040503050406030204" pitchFamily="18" charset="0"/>
                          <a:ea typeface="Cambria" panose="02040503050406030204" pitchFamily="18" charset="0"/>
                        </a:rPr>
                        <a:t>Vijayalakshmi K. Kumarasamy, Abhilasha Jairam Saroj, Yu Liang, Dalei Wu, Michael P. Hunter, Angshuman Guin, Mina Sartipi, 2023, IEEE Smart World Congress (SWC)</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a:latin typeface="Cambria" panose="02040503050406030204" pitchFamily="18" charset="0"/>
                          <a:ea typeface="Cambria" panose="02040503050406030204" pitchFamily="18" charset="0"/>
                        </a:rPr>
                        <a:t>Traffic Signal Optimization by Integrating Reinforcement Learning and Digital Twins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Combined Digital Twins with decentralized multi-agent Reinforcement Learning to improve traffic signal optimization and reduce network-wide congestion.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AC74620-1EFC-BA60-0EA5-156FF4668497}"/>
              </a:ext>
            </a:extLst>
          </p:cNvPr>
          <p:cNvSpPr txBox="1"/>
          <p:nvPr/>
        </p:nvSpPr>
        <p:spPr>
          <a:xfrm>
            <a:off x="4214701" y="1143958"/>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31685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827060525"/>
              </p:ext>
            </p:extLst>
          </p:nvPr>
        </p:nvGraphicFramePr>
        <p:xfrm>
          <a:off x="235974" y="1873660"/>
          <a:ext cx="11720051" cy="4010480"/>
        </p:xfrm>
        <a:graphic>
          <a:graphicData uri="http://schemas.openxmlformats.org/drawingml/2006/table">
            <a:tbl>
              <a:tblPr/>
              <a:tblGrid>
                <a:gridCol w="3770771">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dirty="0">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493367">
                <a:tc>
                  <a:txBody>
                    <a:bodyPr/>
                    <a:lstStyle/>
                    <a:p>
                      <a:pPr algn="l" fontAlgn="ctr">
                        <a:buNone/>
                      </a:pPr>
                      <a:r>
                        <a:rPr lang="en-IN" sz="1600" dirty="0">
                          <a:latin typeface="Cambria" panose="02040503050406030204" pitchFamily="18" charset="0"/>
                          <a:ea typeface="Cambria" panose="02040503050406030204" pitchFamily="18" charset="0"/>
                        </a:rPr>
                        <a:t>Vijayalakshmi K. </a:t>
                      </a:r>
                      <a:r>
                        <a:rPr lang="en-IN" sz="1600" dirty="0" err="1">
                          <a:latin typeface="Cambria" panose="02040503050406030204" pitchFamily="18" charset="0"/>
                          <a:ea typeface="Cambria" panose="02040503050406030204" pitchFamily="18" charset="0"/>
                        </a:rPr>
                        <a:t>Kumarasamy</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Abhilasha</a:t>
                      </a:r>
                      <a:r>
                        <a:rPr lang="en-IN" sz="1600" dirty="0">
                          <a:latin typeface="Cambria" panose="02040503050406030204" pitchFamily="18" charset="0"/>
                          <a:ea typeface="Cambria" panose="02040503050406030204" pitchFamily="18" charset="0"/>
                        </a:rPr>
                        <a:t> Jairam Saroj, Yu Liang, </a:t>
                      </a:r>
                      <a:r>
                        <a:rPr lang="en-IN" sz="1600" dirty="0" err="1">
                          <a:latin typeface="Cambria" panose="02040503050406030204" pitchFamily="18" charset="0"/>
                          <a:ea typeface="Cambria" panose="02040503050406030204" pitchFamily="18" charset="0"/>
                        </a:rPr>
                        <a:t>Dalei</a:t>
                      </a:r>
                      <a:r>
                        <a:rPr lang="en-IN" sz="1600" dirty="0">
                          <a:latin typeface="Cambria" panose="02040503050406030204" pitchFamily="18" charset="0"/>
                          <a:ea typeface="Cambria" panose="02040503050406030204" pitchFamily="18" charset="0"/>
                        </a:rPr>
                        <a:t> Wu, Michael P. Hunter, </a:t>
                      </a:r>
                      <a:r>
                        <a:rPr lang="en-IN" sz="1600" dirty="0" err="1">
                          <a:latin typeface="Cambria" panose="02040503050406030204" pitchFamily="18" charset="0"/>
                          <a:ea typeface="Cambria" panose="02040503050406030204" pitchFamily="18" charset="0"/>
                        </a:rPr>
                        <a:t>Angshuman</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Guin</a:t>
                      </a:r>
                      <a:r>
                        <a:rPr lang="en-IN" sz="1600" dirty="0">
                          <a:latin typeface="Cambria" panose="02040503050406030204" pitchFamily="18" charset="0"/>
                          <a:ea typeface="Cambria" panose="02040503050406030204" pitchFamily="18" charset="0"/>
                        </a:rPr>
                        <a:t>, Mina </a:t>
                      </a:r>
                      <a:r>
                        <a:rPr lang="en-IN" sz="1600" dirty="0" err="1">
                          <a:latin typeface="Cambria" panose="02040503050406030204" pitchFamily="18" charset="0"/>
                          <a:ea typeface="Cambria" panose="02040503050406030204" pitchFamily="18" charset="0"/>
                        </a:rPr>
                        <a:t>Sartipi</a:t>
                      </a:r>
                      <a:r>
                        <a:rPr lang="en-IN" sz="1600" dirty="0">
                          <a:latin typeface="Cambria" panose="02040503050406030204" pitchFamily="18" charset="0"/>
                          <a:ea typeface="Cambria" panose="02040503050406030204" pitchFamily="18" charset="0"/>
                        </a:rPr>
                        <a:t>, 2023, IEEE Smart World Congress (SWC)</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a:latin typeface="Cambria" panose="02040503050406030204" pitchFamily="18" charset="0"/>
                          <a:ea typeface="Cambria" panose="02040503050406030204" pitchFamily="18" charset="0"/>
                        </a:rPr>
                        <a:t>Traffic Signal Optimization by Integrating Reinforcement Learning and Digital Twins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Combined Digital Twins with decentralized multi-agent Reinforcement Learning to improve traffic signal optimization and reduce network-wide congestion.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err="1">
                          <a:latin typeface="Cambria" panose="02040503050406030204" pitchFamily="18" charset="0"/>
                          <a:ea typeface="Cambria" panose="02040503050406030204" pitchFamily="18" charset="0"/>
                        </a:rPr>
                        <a:t>Junyun</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Ruan</a:t>
                      </a:r>
                      <a:r>
                        <a:rPr lang="en-IN" sz="1600" dirty="0">
                          <a:latin typeface="Cambria" panose="02040503050406030204" pitchFamily="18" charset="0"/>
                          <a:ea typeface="Cambria" panose="02040503050406030204" pitchFamily="18" charset="0"/>
                        </a:rPr>
                        <a:t>, </a:t>
                      </a:r>
                      <a:r>
                        <a:rPr lang="en-IN" sz="1600" dirty="0" err="1">
                          <a:latin typeface="Cambria" panose="02040503050406030204" pitchFamily="18" charset="0"/>
                          <a:ea typeface="Cambria" panose="02040503050406030204" pitchFamily="18" charset="0"/>
                        </a:rPr>
                        <a:t>Jinzhuo</a:t>
                      </a:r>
                      <a:r>
                        <a:rPr lang="en-IN" sz="1600" dirty="0">
                          <a:latin typeface="Cambria" panose="02040503050406030204" pitchFamily="18" charset="0"/>
                          <a:ea typeface="Cambria" panose="02040503050406030204" pitchFamily="18" charset="0"/>
                        </a:rPr>
                        <a:t> Tang, Ge Gao, </a:t>
                      </a:r>
                      <a:r>
                        <a:rPr lang="en-IN" sz="1600" dirty="0" err="1">
                          <a:latin typeface="Cambria" panose="02040503050406030204" pitchFamily="18" charset="0"/>
                          <a:ea typeface="Cambria" panose="02040503050406030204" pitchFamily="18" charset="0"/>
                        </a:rPr>
                        <a:t>Tianyu</a:t>
                      </a:r>
                      <a:r>
                        <a:rPr lang="en-IN" sz="1600" dirty="0">
                          <a:latin typeface="Cambria" panose="02040503050406030204" pitchFamily="18" charset="0"/>
                          <a:ea typeface="Cambria" panose="02040503050406030204" pitchFamily="18" charset="0"/>
                        </a:rPr>
                        <a:t> Shi, Alaa Khamis, 2023, IEEE International Conference on Smart Mobility (SM 2023)</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Deep Reinforcement Learning-based Traffic Signal Control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buNone/>
                      </a:pPr>
                      <a:r>
                        <a:rPr lang="en-IN" sz="1600" dirty="0">
                          <a:latin typeface="Cambria" panose="02040503050406030204" pitchFamily="18" charset="0"/>
                          <a:ea typeface="Cambria" panose="02040503050406030204" pitchFamily="18" charset="0"/>
                        </a:rPr>
                        <a:t>The study applies </a:t>
                      </a:r>
                      <a:r>
                        <a:rPr lang="en-IN" sz="1600" b="0" dirty="0">
                          <a:latin typeface="Cambria" panose="02040503050406030204" pitchFamily="18" charset="0"/>
                          <a:ea typeface="Cambria" panose="02040503050406030204" pitchFamily="18" charset="0"/>
                        </a:rPr>
                        <a:t>Deep Q-Network (DQN) and Double DQN (DDQN) </a:t>
                      </a:r>
                      <a:r>
                        <a:rPr lang="en-IN" sz="1600" dirty="0">
                          <a:latin typeface="Cambria" panose="02040503050406030204" pitchFamily="18" charset="0"/>
                          <a:ea typeface="Cambria" panose="02040503050406030204" pitchFamily="18" charset="0"/>
                        </a:rPr>
                        <a:t>to optimize traffic signal control at urban intersections. </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IEEE Sensors Journal, 2023</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Reinforcement Learning-Based Intelligent Traffic Signal Control Considering Sensing Information of Railway</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Implemented DQN and PPO with SUMO simulation, demonstrating better traffic efficiency than fixed-time signal control in complex transportation environments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Lingling Fan, Yusong Yang, Honghai Ji, Shuanghuang Xiong, 2023, 2023 IEEE 12th Data Driven Control and Learning Systems Conference (DDCLS). </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Research on Cooperative Control of Traffic Signals Based on Deep Reinforcement Learning</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rPr>
                        <a:t>The paper proposes a cooperative traffic signal control method using Deep Reinforcement Learning (DRL). A traffic performance evaluation index is designed.</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8" y="1110505"/>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48290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556EF-B9EA-9A2B-37A6-7B0090F3EA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30F9DB6-C899-CA7A-CA8D-430D7E025983}"/>
              </a:ext>
            </a:extLst>
          </p:cNvPr>
          <p:cNvSpPr txBox="1"/>
          <p:nvPr/>
        </p:nvSpPr>
        <p:spPr>
          <a:xfrm>
            <a:off x="758283" y="2147545"/>
            <a:ext cx="10671717" cy="4247317"/>
          </a:xfrm>
          <a:prstGeom prst="rect">
            <a:avLst/>
          </a:prstGeom>
          <a:noFill/>
        </p:spPr>
        <p:txBody>
          <a:bodyPr wrap="square">
            <a:spAutoFit/>
          </a:bodyPr>
          <a:lstStyle/>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Most existing studies focus only on Deep Reinforcement Learning and do not integrate Digital Twin technology for realistic traffic monitoring and optimization.</a:t>
            </a:r>
          </a:p>
          <a:p>
            <a:pPr lvl="0"/>
            <a:r>
              <a:rPr lang="en-IN" dirty="0">
                <a:latin typeface="Cambria" panose="02040503050406030204" pitchFamily="18" charset="0"/>
                <a:ea typeface="Cambria" panose="02040503050406030204" pitchFamily="18" charset="0"/>
              </a:rPr>
              <a:t> </a:t>
            </a: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Several approaches are evaluated on single intersections, while city-wide adaptive traffic coordination remains insufficiently explored. </a:t>
            </a:r>
          </a:p>
          <a:p>
            <a:pPr lvl="0"/>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Existing traffic control methods often use limited or real-world datasets, with less emphasis on generating realistic synthetic traffic data for extensive simulation. </a:t>
            </a:r>
          </a:p>
          <a:p>
            <a:pPr marL="285750" lvl="0" indent="-28575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Current frameworks rarely combine Discrete Event Simulation (DES) with Reinforcement Learning to accurately model dynamic traffic events. </a:t>
            </a:r>
          </a:p>
          <a:p>
            <a:pPr lvl="0"/>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Most existing solutions have limited scalability for future smart city environments, where adaptive, simulation-based, and intelligent traffic management is required.</a:t>
            </a:r>
          </a:p>
          <a:p>
            <a:pPr marL="342900" indent="-342900" algn="just">
              <a:buFont typeface="+mj-lt"/>
              <a:buAutoNum type="arabicPeriod"/>
            </a:pPr>
            <a:endParaRPr lang="en-US" dirty="0">
              <a:solidFill>
                <a:schemeClr val="tx1">
                  <a:lumMod val="85000"/>
                  <a:lumOff val="15000"/>
                </a:schemeClr>
              </a:solidFill>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BF3D671E-8A81-46B6-9CD7-913DDC9FCA77}"/>
              </a:ext>
            </a:extLst>
          </p:cNvPr>
          <p:cNvSpPr txBox="1"/>
          <p:nvPr/>
        </p:nvSpPr>
        <p:spPr>
          <a:xfrm>
            <a:off x="4226312" y="1427356"/>
            <a:ext cx="32452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Research Gaps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25098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F3BC88-8D23-52E9-2B50-B62189EC34C8}"/>
              </a:ext>
            </a:extLst>
          </p:cNvPr>
          <p:cNvSpPr txBox="1"/>
          <p:nvPr/>
        </p:nvSpPr>
        <p:spPr>
          <a:xfrm>
            <a:off x="760141" y="2426325"/>
            <a:ext cx="10671717" cy="1754326"/>
          </a:xfrm>
          <a:prstGeom prst="rect">
            <a:avLst/>
          </a:prstGeom>
          <a:noFill/>
        </p:spPr>
        <p:txBody>
          <a:bodyPr wrap="square">
            <a:spAutoFit/>
          </a:bodyPr>
          <a:lstStyle/>
          <a:p>
            <a:pPr marL="342900" indent="-342900" algn="just">
              <a:buFont typeface="+mj-lt"/>
              <a:buAutoNum type="arabicPeriod"/>
            </a:pPr>
            <a:r>
              <a:rPr lang="en-US" dirty="0">
                <a:solidFill>
                  <a:schemeClr val="tx1">
                    <a:lumMod val="85000"/>
                    <a:lumOff val="15000"/>
                  </a:schemeClr>
                </a:solidFill>
                <a:latin typeface="Cambria" panose="02040503050406030204" pitchFamily="18" charset="0"/>
                <a:ea typeface="Cambria" panose="02040503050406030204" pitchFamily="18" charset="0"/>
              </a:rPr>
              <a:t>Existing traffic signal control systems are unable to adapt efficiently to dynamic traffic conditions, leading to congestion and increased waiting time.</a:t>
            </a:r>
          </a:p>
          <a:p>
            <a:pPr marL="342900" indent="-342900" algn="just">
              <a:buFont typeface="+mj-lt"/>
              <a:buAutoNum type="arabicPeriod"/>
            </a:pP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marL="342900" indent="-342900" algn="just">
              <a:buFont typeface="+mj-lt"/>
              <a:buAutoNum type="arabicPeriod"/>
            </a:pPr>
            <a:r>
              <a:rPr lang="en-US" dirty="0">
                <a:solidFill>
                  <a:schemeClr val="tx1">
                    <a:lumMod val="85000"/>
                    <a:lumOff val="15000"/>
                  </a:schemeClr>
                </a:solidFill>
                <a:latin typeface="Cambria" panose="02040503050406030204" pitchFamily="18" charset="0"/>
                <a:ea typeface="Cambria" panose="02040503050406030204" pitchFamily="18" charset="0"/>
              </a:rPr>
              <a:t>Current Deep Reinforcement Learning-based traffic control approaches optimize signal timing but lack integration with Digital Twin and Discrete Event Simulation for real-time traffic modelling and prediction.</a:t>
            </a:r>
          </a:p>
        </p:txBody>
      </p:sp>
      <p:sp>
        <p:nvSpPr>
          <p:cNvPr id="4" name="TextBox 3">
            <a:extLst>
              <a:ext uri="{FF2B5EF4-FFF2-40B4-BE49-F238E27FC236}">
                <a16:creationId xmlns:a16="http://schemas.microsoft.com/office/drawing/2014/main" id="{E21EADF1-472C-4B57-8222-81E0BDF26FA7}"/>
              </a:ext>
            </a:extLst>
          </p:cNvPr>
          <p:cNvSpPr txBox="1"/>
          <p:nvPr/>
        </p:nvSpPr>
        <p:spPr>
          <a:xfrm>
            <a:off x="3980985" y="1438508"/>
            <a:ext cx="4483058" cy="584776"/>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Problem Statement</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5091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F3BC88-8D23-52E9-2B50-B62189EC34C8}"/>
              </a:ext>
            </a:extLst>
          </p:cNvPr>
          <p:cNvSpPr txBox="1"/>
          <p:nvPr/>
        </p:nvSpPr>
        <p:spPr>
          <a:xfrm>
            <a:off x="959005" y="2252546"/>
            <a:ext cx="10237847" cy="3416320"/>
          </a:xfrm>
          <a:prstGeom prst="rect">
            <a:avLst/>
          </a:prstGeom>
          <a:noFill/>
        </p:spPr>
        <p:txBody>
          <a:bodyPr wrap="square">
            <a:spAutoFit/>
          </a:bodyPr>
          <a:lstStyle/>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Develop an adaptive traffic management system using Reinforcement Learning, Digital Twin, and Discrete Event Simulation. </a:t>
            </a:r>
          </a:p>
          <a:p>
            <a:pPr lvl="0"/>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Optimize traffic signal timings to reduce congestion, waiting time, and travel time. </a:t>
            </a:r>
          </a:p>
          <a:p>
            <a:pPr lvl="0"/>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Evaluate and compare the proposed system with existing traffic control methods using performance metrics. </a:t>
            </a:r>
          </a:p>
          <a:p>
            <a:pPr lvl="0"/>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Generate a realistic synthetic traffic dataset for simulation and model training.</a:t>
            </a:r>
          </a:p>
          <a:p>
            <a:pPr marL="285750" lvl="0" indent="-28575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marL="285750" lvl="0" indent="-285750">
              <a:buFont typeface="Arial" panose="020B0604020202020204" pitchFamily="34" charset="0"/>
              <a:buChar char="•"/>
            </a:pPr>
            <a:r>
              <a:rPr lang="en-IN" dirty="0">
                <a:latin typeface="Cambria" panose="02040503050406030204" pitchFamily="18" charset="0"/>
                <a:ea typeface="Cambria" panose="02040503050406030204" pitchFamily="18" charset="0"/>
              </a:rPr>
              <a:t>Visualize traffic performance and simulation results using statistical analysis and graphical representations.</a:t>
            </a:r>
          </a:p>
        </p:txBody>
      </p:sp>
      <p:sp>
        <p:nvSpPr>
          <p:cNvPr id="4" name="TextBox 3">
            <a:extLst>
              <a:ext uri="{FF2B5EF4-FFF2-40B4-BE49-F238E27FC236}">
                <a16:creationId xmlns:a16="http://schemas.microsoft.com/office/drawing/2014/main" id="{50D2EB1F-0D2D-4BB2-9C9D-B631B2BB6C35}"/>
              </a:ext>
            </a:extLst>
          </p:cNvPr>
          <p:cNvSpPr txBox="1"/>
          <p:nvPr/>
        </p:nvSpPr>
        <p:spPr>
          <a:xfrm>
            <a:off x="3925230" y="1438508"/>
            <a:ext cx="4594568"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kern="0" cap="small" dirty="0">
                <a:solidFill>
                  <a:schemeClr val="accent1">
                    <a:lumMod val="50000"/>
                  </a:schemeClr>
                </a:solidFill>
                <a:latin typeface="Cambria" panose="02040503050406030204" pitchFamily="18" charset="0"/>
                <a:ea typeface="Cambria" panose="02040503050406030204" pitchFamily="18" charset="0"/>
              </a:rPr>
              <a:t>Objectives</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88187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0C90C61-E586-44A3-A599-D9123506BDB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1370" t="8245" r="11215" b="4016"/>
          <a:stretch/>
        </p:blipFill>
        <p:spPr>
          <a:xfrm>
            <a:off x="8263054" y="1226635"/>
            <a:ext cx="3468029" cy="5232380"/>
          </a:xfrm>
        </p:spPr>
      </p:pic>
      <p:sp>
        <p:nvSpPr>
          <p:cNvPr id="6" name="TextBox 5">
            <a:extLst>
              <a:ext uri="{FF2B5EF4-FFF2-40B4-BE49-F238E27FC236}">
                <a16:creationId xmlns:a16="http://schemas.microsoft.com/office/drawing/2014/main" id="{CBF2E094-3A9F-48B4-8E52-AAF88F17F8B2}"/>
              </a:ext>
            </a:extLst>
          </p:cNvPr>
          <p:cNvSpPr txBox="1"/>
          <p:nvPr/>
        </p:nvSpPr>
        <p:spPr>
          <a:xfrm>
            <a:off x="3779996" y="1126008"/>
            <a:ext cx="4483058" cy="584776"/>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a:t>
            </a:r>
            <a:r>
              <a:rPr lang="en-US" sz="3200" b="1" kern="0" cap="small" dirty="0">
                <a:solidFill>
                  <a:schemeClr val="accent1">
                    <a:lumMod val="50000"/>
                  </a:schemeClr>
                </a:solidFill>
                <a:latin typeface="Cambria" panose="02040503050406030204" pitchFamily="18" charset="0"/>
                <a:ea typeface="Cambria" panose="02040503050406030204" pitchFamily="18" charset="0"/>
              </a:rPr>
              <a: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9" name="TextBox 8">
            <a:extLst>
              <a:ext uri="{FF2B5EF4-FFF2-40B4-BE49-F238E27FC236}">
                <a16:creationId xmlns:a16="http://schemas.microsoft.com/office/drawing/2014/main" id="{27ABCC45-5CBD-43B9-8658-A0F37121E7D3}"/>
              </a:ext>
            </a:extLst>
          </p:cNvPr>
          <p:cNvSpPr txBox="1"/>
          <p:nvPr/>
        </p:nvSpPr>
        <p:spPr>
          <a:xfrm>
            <a:off x="460917" y="1811411"/>
            <a:ext cx="7802138" cy="4524315"/>
          </a:xfrm>
          <a:prstGeom prst="rect">
            <a:avLst/>
          </a:prstGeom>
          <a:noFill/>
        </p:spPr>
        <p:txBody>
          <a:bodyPr wrap="square">
            <a:spAutoFit/>
          </a:bodyPr>
          <a:lstStyle/>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Generate synthetic urban traffic data using a Shiny Application in R.</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Clean, organize, and prepare the traffic dataset for analysis.</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Create a virtual model of the urban traffic network.</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Simulate vehicle movement, traffic signals, and congestion scenarios.</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Train an intelligent agent to learn optimal traffic signal timings.</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Dynamically adjust signal timings based on current traffic conditions.</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Measure waiting time, queue length, travel time, and traffic flow efficiency.</a:t>
            </a:r>
          </a:p>
          <a:p>
            <a:pPr lvl="0" algn="just"/>
            <a:endParaRPr lang="en-US" dirty="0">
              <a:latin typeface="Cambria" panose="02040503050406030204" pitchFamily="18" charset="0"/>
              <a:ea typeface="Cambria" panose="02040503050406030204" pitchFamily="18" charset="0"/>
            </a:endParaRPr>
          </a:p>
          <a:p>
            <a:pPr marL="285750" lvl="0" indent="-285750" algn="just">
              <a:buFont typeface="Arial" panose="020B0604020202020204" pitchFamily="34" charset="0"/>
              <a:buChar char="•"/>
            </a:pPr>
            <a:r>
              <a:rPr lang="en-US" dirty="0">
                <a:latin typeface="Cambria" panose="02040503050406030204" pitchFamily="18" charset="0"/>
                <a:ea typeface="Cambria" panose="02040503050406030204" pitchFamily="18" charset="0"/>
              </a:rPr>
              <a:t>Compare the proposed system with conventional traffic signal control and analyze the improvements.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04487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BF2E094-3A9F-48B4-8E52-AAF88F17F8B2}"/>
              </a:ext>
            </a:extLst>
          </p:cNvPr>
          <p:cNvSpPr txBox="1"/>
          <p:nvPr/>
        </p:nvSpPr>
        <p:spPr>
          <a:xfrm>
            <a:off x="3758975" y="1241622"/>
            <a:ext cx="4483058" cy="584776"/>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Formulas</a:t>
            </a:r>
          </a:p>
        </p:txBody>
      </p:sp>
      <p:sp>
        <p:nvSpPr>
          <p:cNvPr id="4" name="TextBox 3">
            <a:extLst>
              <a:ext uri="{FF2B5EF4-FFF2-40B4-BE49-F238E27FC236}">
                <a16:creationId xmlns:a16="http://schemas.microsoft.com/office/drawing/2014/main" id="{5538CB1F-EFE1-4BFE-9BAF-E74763CC1048}"/>
              </a:ext>
            </a:extLst>
          </p:cNvPr>
          <p:cNvSpPr txBox="1"/>
          <p:nvPr/>
        </p:nvSpPr>
        <p:spPr>
          <a:xfrm>
            <a:off x="1901910" y="2206577"/>
            <a:ext cx="1030478" cy="276999"/>
          </a:xfrm>
          <a:prstGeom prst="rect">
            <a:avLst/>
          </a:prstGeom>
          <a:noFill/>
        </p:spPr>
        <p:txBody>
          <a:bodyPr wrap="square" lIns="0" tIns="0" rIns="0" bIns="0" rtlCol="0">
            <a:spAutoFit/>
          </a:bodyPr>
          <a:lstStyle/>
          <a:p>
            <a:r>
              <a:rPr lang="en-US" b="1" dirty="0">
                <a:latin typeface="Cambria" panose="02040503050406030204" pitchFamily="18" charset="0"/>
                <a:ea typeface="Cambria" panose="02040503050406030204" pitchFamily="18" charset="0"/>
              </a:rPr>
              <a:t>Q=N/T</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7DCA273-1E48-48A8-865A-D83585C4FA48}"/>
                  </a:ext>
                </a:extLst>
              </p:cNvPr>
              <p:cNvSpPr txBox="1"/>
              <p:nvPr/>
            </p:nvSpPr>
            <p:spPr>
              <a:xfrm>
                <a:off x="1901910" y="2836355"/>
                <a:ext cx="1325684"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b="1">
                          <a:latin typeface="Cambria" panose="02040503050406030204" pitchFamily="18" charset="0"/>
                          <a:ea typeface="Cambria" panose="02040503050406030204" pitchFamily="18" charset="0"/>
                        </a:rPr>
                        <m:t>AWT</m:t>
                      </m:r>
                      <m:r>
                        <m:rPr>
                          <m:nor/>
                        </m:rPr>
                        <a:rPr lang="en-US" b="1">
                          <a:latin typeface="Cambria" panose="02040503050406030204" pitchFamily="18" charset="0"/>
                          <a:ea typeface="Cambria" panose="02040503050406030204" pitchFamily="18" charset="0"/>
                        </a:rPr>
                        <m:t>=</m:t>
                      </m:r>
                      <m:r>
                        <m:rPr>
                          <m:nor/>
                        </m:rPr>
                        <a:rPr lang="en-US" b="1">
                          <a:latin typeface="Cambria" panose="02040503050406030204" pitchFamily="18" charset="0"/>
                          <a:ea typeface="Cambria" panose="02040503050406030204" pitchFamily="18" charset="0"/>
                        </a:rPr>
                        <m:t>N</m:t>
                      </m:r>
                      <m:r>
                        <m:rPr>
                          <m:nor/>
                        </m:rPr>
                        <a:rPr lang="en-US" b="1">
                          <a:latin typeface="Cambria" panose="02040503050406030204" pitchFamily="18" charset="0"/>
                          <a:ea typeface="Cambria" panose="02040503050406030204" pitchFamily="18" charset="0"/>
                        </a:rPr>
                        <m:t>∑</m:t>
                      </m:r>
                      <m:r>
                        <m:rPr>
                          <m:nor/>
                        </m:rPr>
                        <a:rPr lang="en-US" b="1">
                          <a:latin typeface="Cambria" panose="02040503050406030204" pitchFamily="18" charset="0"/>
                          <a:ea typeface="Cambria" panose="02040503050406030204" pitchFamily="18" charset="0"/>
                        </a:rPr>
                        <m:t>Wi</m:t>
                      </m:r>
                      <m:r>
                        <m:rPr>
                          <m:nor/>
                        </m:rPr>
                        <a:rPr lang="en-US" b="1">
                          <a:latin typeface="Cambria" panose="02040503050406030204" pitchFamily="18" charset="0"/>
                          <a:ea typeface="Cambria" panose="02040503050406030204" pitchFamily="18" charset="0"/>
                        </a:rPr>
                        <m:t>​​</m:t>
                      </m:r>
                    </m:oMath>
                  </m:oMathPara>
                </a14:m>
                <a:endParaRPr lang="en-US" b="1" dirty="0">
                  <a:latin typeface="Cambria" panose="02040503050406030204" pitchFamily="18" charset="0"/>
                  <a:ea typeface="Cambria" panose="02040503050406030204" pitchFamily="18" charset="0"/>
                </a:endParaRPr>
              </a:p>
            </p:txBody>
          </p:sp>
        </mc:Choice>
        <mc:Fallback>
          <p:sp>
            <p:nvSpPr>
              <p:cNvPr id="5" name="TextBox 4">
                <a:extLst>
                  <a:ext uri="{FF2B5EF4-FFF2-40B4-BE49-F238E27FC236}">
                    <a16:creationId xmlns:a16="http://schemas.microsoft.com/office/drawing/2014/main" id="{27DCA273-1E48-48A8-865A-D83585C4FA48}"/>
                  </a:ext>
                </a:extLst>
              </p:cNvPr>
              <p:cNvSpPr txBox="1">
                <a:spLocks noRot="1" noChangeAspect="1" noMove="1" noResize="1" noEditPoints="1" noAdjustHandles="1" noChangeArrowheads="1" noChangeShapeType="1" noTextEdit="1"/>
              </p:cNvSpPr>
              <p:nvPr/>
            </p:nvSpPr>
            <p:spPr>
              <a:xfrm>
                <a:off x="1901910" y="2836355"/>
                <a:ext cx="1325684" cy="276999"/>
              </a:xfrm>
              <a:prstGeom prst="rect">
                <a:avLst/>
              </a:prstGeom>
              <a:blipFill>
                <a:blip r:embed="rId2"/>
                <a:stretch>
                  <a:fillRect l="-5991" r="-6452" b="-3478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84EF3B7-4879-44E4-92FB-A6CFD81A60D4}"/>
                  </a:ext>
                </a:extLst>
              </p:cNvPr>
              <p:cNvSpPr txBox="1"/>
              <p:nvPr/>
            </p:nvSpPr>
            <p:spPr>
              <a:xfrm>
                <a:off x="1901910" y="3327633"/>
                <a:ext cx="1720023"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b="1">
                          <a:latin typeface="Cambria" panose="02040503050406030204" pitchFamily="18" charset="0"/>
                          <a:ea typeface="Cambria" panose="02040503050406030204" pitchFamily="18" charset="0"/>
                        </a:rPr>
                        <m:t>Rt</m:t>
                      </m:r>
                      <m:r>
                        <m:rPr>
                          <m:nor/>
                        </m:rPr>
                        <a:rPr lang="en-US" b="1">
                          <a:latin typeface="Cambria" panose="02040503050406030204" pitchFamily="18" charset="0"/>
                          <a:ea typeface="Cambria" panose="02040503050406030204" pitchFamily="18" charset="0"/>
                        </a:rPr>
                        <m:t>​=−(</m:t>
                      </m:r>
                      <m:r>
                        <m:rPr>
                          <m:nor/>
                        </m:rPr>
                        <a:rPr lang="el-GR" b="1">
                          <a:latin typeface="Cambria" panose="02040503050406030204" pitchFamily="18" charset="0"/>
                          <a:ea typeface="Cambria" panose="02040503050406030204" pitchFamily="18" charset="0"/>
                        </a:rPr>
                        <m:t>α</m:t>
                      </m:r>
                      <m:r>
                        <m:rPr>
                          <m:nor/>
                        </m:rPr>
                        <a:rPr lang="en-US" b="1">
                          <a:latin typeface="Cambria" panose="02040503050406030204" pitchFamily="18" charset="0"/>
                          <a:ea typeface="Cambria" panose="02040503050406030204" pitchFamily="18" charset="0"/>
                        </a:rPr>
                        <m:t>Wt</m:t>
                      </m:r>
                      <m:r>
                        <m:rPr>
                          <m:nor/>
                        </m:rPr>
                        <a:rPr lang="en-US" b="1">
                          <a:latin typeface="Cambria" panose="02040503050406030204" pitchFamily="18" charset="0"/>
                          <a:ea typeface="Cambria" panose="02040503050406030204" pitchFamily="18" charset="0"/>
                        </a:rPr>
                        <m:t>​+</m:t>
                      </m:r>
                      <m:r>
                        <m:rPr>
                          <m:nor/>
                        </m:rPr>
                        <a:rPr lang="el-GR" b="1">
                          <a:latin typeface="Cambria" panose="02040503050406030204" pitchFamily="18" charset="0"/>
                          <a:ea typeface="Cambria" panose="02040503050406030204" pitchFamily="18" charset="0"/>
                        </a:rPr>
                        <m:t>β</m:t>
                      </m:r>
                      <m:r>
                        <m:rPr>
                          <m:nor/>
                        </m:rPr>
                        <a:rPr lang="en-US" b="1">
                          <a:latin typeface="Cambria" panose="02040503050406030204" pitchFamily="18" charset="0"/>
                          <a:ea typeface="Cambria" panose="02040503050406030204" pitchFamily="18" charset="0"/>
                        </a:rPr>
                        <m:t>Qt</m:t>
                      </m:r>
                      <m:r>
                        <m:rPr>
                          <m:nor/>
                        </m:rPr>
                        <a:rPr lang="en-US" b="1">
                          <a:latin typeface="Cambria" panose="02040503050406030204" pitchFamily="18" charset="0"/>
                          <a:ea typeface="Cambria" panose="02040503050406030204" pitchFamily="18" charset="0"/>
                        </a:rPr>
                        <m:t>​)</m:t>
                      </m:r>
                    </m:oMath>
                  </m:oMathPara>
                </a14:m>
                <a:endParaRPr lang="en-US" b="1" dirty="0">
                  <a:latin typeface="Cambria" panose="02040503050406030204" pitchFamily="18" charset="0"/>
                  <a:ea typeface="Cambria" panose="02040503050406030204" pitchFamily="18" charset="0"/>
                </a:endParaRPr>
              </a:p>
            </p:txBody>
          </p:sp>
        </mc:Choice>
        <mc:Fallback>
          <p:sp>
            <p:nvSpPr>
              <p:cNvPr id="7" name="TextBox 6">
                <a:extLst>
                  <a:ext uri="{FF2B5EF4-FFF2-40B4-BE49-F238E27FC236}">
                    <a16:creationId xmlns:a16="http://schemas.microsoft.com/office/drawing/2014/main" id="{D84EF3B7-4879-44E4-92FB-A6CFD81A60D4}"/>
                  </a:ext>
                </a:extLst>
              </p:cNvPr>
              <p:cNvSpPr txBox="1">
                <a:spLocks noRot="1" noChangeAspect="1" noMove="1" noResize="1" noEditPoints="1" noAdjustHandles="1" noChangeArrowheads="1" noChangeShapeType="1" noTextEdit="1"/>
              </p:cNvSpPr>
              <p:nvPr/>
            </p:nvSpPr>
            <p:spPr>
              <a:xfrm>
                <a:off x="1901910" y="3327633"/>
                <a:ext cx="1720023" cy="276999"/>
              </a:xfrm>
              <a:prstGeom prst="rect">
                <a:avLst/>
              </a:prstGeom>
              <a:blipFill>
                <a:blip r:embed="rId3"/>
                <a:stretch>
                  <a:fillRect l="-4610" r="-4965" b="-3777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AB4B1EF-B548-4740-B7F3-AC10DA0EB9AB}"/>
                  </a:ext>
                </a:extLst>
              </p:cNvPr>
              <p:cNvSpPr txBox="1"/>
              <p:nvPr/>
            </p:nvSpPr>
            <p:spPr>
              <a:xfrm>
                <a:off x="1901910" y="3914052"/>
                <a:ext cx="2584041"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pt-BR" b="1">
                          <a:latin typeface="Cambria" panose="02040503050406030204" pitchFamily="18" charset="0"/>
                          <a:ea typeface="Cambria" panose="02040503050406030204" pitchFamily="18" charset="0"/>
                        </a:rPr>
                        <m:t>Q</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s</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a</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r</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γa</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max</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Q</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s</m:t>
                      </m:r>
                      <m:r>
                        <m:rPr>
                          <m:nor/>
                        </m:rPr>
                        <a:rPr lang="pt-BR" b="1">
                          <a:latin typeface="Cambria" panose="02040503050406030204" pitchFamily="18" charset="0"/>
                          <a:ea typeface="Cambria" panose="02040503050406030204" pitchFamily="18" charset="0"/>
                        </a:rPr>
                        <m:t>′,</m:t>
                      </m:r>
                      <m:r>
                        <m:rPr>
                          <m:nor/>
                        </m:rPr>
                        <a:rPr lang="pt-BR" b="1">
                          <a:latin typeface="Cambria" panose="02040503050406030204" pitchFamily="18" charset="0"/>
                          <a:ea typeface="Cambria" panose="02040503050406030204" pitchFamily="18" charset="0"/>
                        </a:rPr>
                        <m:t>a</m:t>
                      </m:r>
                      <m:r>
                        <m:rPr>
                          <m:nor/>
                        </m:rPr>
                        <a:rPr lang="pt-BR" b="1">
                          <a:latin typeface="Cambria" panose="02040503050406030204" pitchFamily="18" charset="0"/>
                          <a:ea typeface="Cambria" panose="02040503050406030204" pitchFamily="18" charset="0"/>
                        </a:rPr>
                        <m:t>′)</m:t>
                      </m:r>
                    </m:oMath>
                  </m:oMathPara>
                </a14:m>
                <a:endParaRPr lang="en-US" b="1" dirty="0">
                  <a:latin typeface="Cambria" panose="02040503050406030204" pitchFamily="18" charset="0"/>
                  <a:ea typeface="Cambria" panose="02040503050406030204" pitchFamily="18" charset="0"/>
                </a:endParaRPr>
              </a:p>
            </p:txBody>
          </p:sp>
        </mc:Choice>
        <mc:Fallback>
          <p:sp>
            <p:nvSpPr>
              <p:cNvPr id="11" name="TextBox 10">
                <a:extLst>
                  <a:ext uri="{FF2B5EF4-FFF2-40B4-BE49-F238E27FC236}">
                    <a16:creationId xmlns:a16="http://schemas.microsoft.com/office/drawing/2014/main" id="{8AB4B1EF-B548-4740-B7F3-AC10DA0EB9AB}"/>
                  </a:ext>
                </a:extLst>
              </p:cNvPr>
              <p:cNvSpPr txBox="1">
                <a:spLocks noRot="1" noChangeAspect="1" noMove="1" noResize="1" noEditPoints="1" noAdjustHandles="1" noChangeArrowheads="1" noChangeShapeType="1" noTextEdit="1"/>
              </p:cNvSpPr>
              <p:nvPr/>
            </p:nvSpPr>
            <p:spPr>
              <a:xfrm>
                <a:off x="1901910" y="3914052"/>
                <a:ext cx="2584041" cy="276999"/>
              </a:xfrm>
              <a:prstGeom prst="rect">
                <a:avLst/>
              </a:prstGeom>
              <a:blipFill>
                <a:blip r:embed="rId4"/>
                <a:stretch>
                  <a:fillRect l="-3066" t="-6522" r="-3302" b="-36957"/>
                </a:stretch>
              </a:blipFill>
            </p:spPr>
            <p:txBody>
              <a:bodyPr/>
              <a:lstStyle/>
              <a:p>
                <a:r>
                  <a:rPr lang="en-US">
                    <a:noFill/>
                  </a:rPr>
                  <a:t> </a:t>
                </a:r>
              </a:p>
            </p:txBody>
          </p:sp>
        </mc:Fallback>
      </mc:AlternateContent>
    </p:spTree>
    <p:extLst>
      <p:ext uri="{BB962C8B-B14F-4D97-AF65-F5344CB8AC3E}">
        <p14:creationId xmlns:p14="http://schemas.microsoft.com/office/powerpoint/2010/main" val="4224587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693</TotalTime>
  <Words>1198</Words>
  <Application>Microsoft Office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gnanaraj</dc:creator>
  <cp:lastModifiedBy>T G Dileepkumar</cp:lastModifiedBy>
  <cp:revision>18</cp:revision>
  <dcterms:created xsi:type="dcterms:W3CDTF">2025-08-11T02:48:58Z</dcterms:created>
  <dcterms:modified xsi:type="dcterms:W3CDTF">2026-08-02T15:41:45Z</dcterms:modified>
</cp:coreProperties>
</file>